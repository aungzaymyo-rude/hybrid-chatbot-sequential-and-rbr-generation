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7" r:id="rId11"/>
    <p:sldId id="268" r:id="rId12"/>
    <p:sldId id="265" r:id="rId13"/>
    <p:sldId id="266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13" d="100"/>
          <a:sy n="113" d="100"/>
        </p:scale>
        <p:origin x="474" y="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5/3/2026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E312F"/>
          </a:solidFill>
          <a:ln>
            <a:solidFill>
              <a:srgbClr val="0E31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91440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800" b="1">
                <a:solidFill>
                  <a:srgbClr val="FFFFFF"/>
                </a:solidFill>
                <a:latin typeface="Arial"/>
              </a:defRPr>
            </a:pPr>
            <a:r>
              <a:t>Hybrid Chatbot for Medical Haematology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" y="1874519"/>
            <a:ext cx="98755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800" b="0">
                <a:solidFill>
                  <a:srgbClr val="D6E8E4"/>
                </a:solidFill>
                <a:latin typeface="Arial"/>
              </a:defRPr>
            </a:pPr>
            <a:r>
              <a:t>Sequential models for intent classification and retrieval-based response generation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539496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D6E8E4"/>
                </a:solidFill>
                <a:latin typeface="Arial"/>
              </a:defRPr>
            </a:pPr>
            <a:r>
              <a:t>Final Year Dissertation Presentation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5806440"/>
            <a:ext cx="6583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0">
                <a:solidFill>
                  <a:srgbClr val="D6E8E4"/>
                </a:solidFill>
                <a:latin typeface="Arial"/>
              </a:defRPr>
            </a:pPr>
            <a:r>
              <a:t>Student: [Insert Name]   Supervisor: [Insert Name]   Year: 2026</a:t>
            </a:r>
          </a:p>
        </p:txBody>
      </p:sp>
      <p:pic>
        <p:nvPicPr>
          <p:cNvPr id="7" name="Picture 6" descr="figure_3_1_hybri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0" y="1234440"/>
            <a:ext cx="4297680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Research Context and Project Aim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71600"/>
            <a:ext cx="548640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General-purpose chatbots do not naturally satisfy laboratory requirements for scope control, auditability, and safe fallback behaviour.</a:t>
            </a:r>
          </a:p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The project therefore targeted a bounded haematology laboratory assistant rather than a diagnostic system.</a:t>
            </a:r>
          </a:p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The aim was to combine sequential intent classification with retrieval-based response generation and practical MLOps controls.</a:t>
            </a:r>
          </a:p>
        </p:txBody>
      </p:sp>
      <p:pic>
        <p:nvPicPr>
          <p:cNvPr id="4" name="Picture 3" descr="figure_3_3_chat_u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20840" y="1417320"/>
            <a:ext cx="4754880" cy="380390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System Architecture and Backend Layers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4114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FastAPI served the chat API, admin endpoints, and model registry.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The inference path combined text preprocessing, BiLSTM intent scoring, entity detection, TF-IDF retrieval, and safety rules.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PostgreSQL logging and the admin console supported monitoring and retraining.</a:t>
            </a:r>
          </a:p>
        </p:txBody>
      </p:sp>
      <p:pic>
        <p:nvPicPr>
          <p:cNvPr id="4" name="Picture 3" descr="figure_3_1_hybrid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4920" y="1234440"/>
            <a:ext cx="6217920" cy="347968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Data Strategy and Two-Model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5486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Master labelled dataset: 3,250 utterances across 27 intents.</a:t>
            </a:r>
          </a:p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General model dataset: 2,670 utterances across 21 intents.</a:t>
            </a:r>
          </a:p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Report model dataset: 2,636 utterances across 24 intents.</a:t>
            </a:r>
          </a:p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The split reduced label competition between workflow questions and CBC report-support questions.</a:t>
            </a:r>
          </a:p>
        </p:txBody>
      </p:sp>
      <p:pic>
        <p:nvPicPr>
          <p:cNvPr id="4" name="Picture 3" descr="figure_4_3_dataset_and_spli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75120" y="1417320"/>
            <a:ext cx="4663440" cy="1787433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MLOps Lifecycle and Operational Monitoring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49377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The implemented lifecycle covered labelled data ingestion, derived datasets, fixed splits, training, evaluation, deployment, monitoring, and retraining.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The admin console exposed model metrics, live logs, version-relevant artefacts, review workflow, and inference traces.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Reviewed production phrases could be exported and merged back into the labelled dataset.</a:t>
            </a:r>
          </a:p>
        </p:txBody>
      </p:sp>
      <p:pic>
        <p:nvPicPr>
          <p:cNvPr id="4" name="Picture 3" descr="figure_3_2_mlops_lifecyc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188720"/>
            <a:ext cx="5486400" cy="2722561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Evaluation Design and Testing Discipline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5303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A fixed 70/15/15 train-validation-test policy was adopted to separate checkpoint selection from final reporting.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Automated tests covered API behaviour, preprocessing, entity detection, routing, model advisory, predictor rules, and split generation.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The final automated suite passed with 26 tests.</a:t>
            </a:r>
          </a:p>
        </p:txBody>
      </p:sp>
      <p:pic>
        <p:nvPicPr>
          <p:cNvPr id="4" name="Picture 3" descr="figure_4_4_testing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1417320"/>
            <a:ext cx="4754880" cy="2896185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Model Performance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50292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General model: accuracy 0.8928, macro F1 0.8649.</a:t>
            </a:r>
          </a:p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Report model: accuracy 0.9040, macro F1 0.8604.</a:t>
            </a:r>
          </a:p>
          <a:p>
            <a:pPr>
              <a:spcAft>
                <a:spcPts val="0"/>
              </a:spcAft>
              <a:defRPr sz="2000">
                <a:solidFill>
                  <a:srgbClr val="182728"/>
                </a:solidFill>
                <a:latin typeface="Arial"/>
              </a:defRPr>
            </a:pPr>
            <a:r>
              <a:t>The report profile achieved slightly higher accuracy, while both models maintained near-0.90 test performance within a bounded medical scope.</a:t>
            </a:r>
          </a:p>
        </p:txBody>
      </p:sp>
      <p:pic>
        <p:nvPicPr>
          <p:cNvPr id="4" name="Picture 3" descr="figure_4_1_metric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55080" y="1554480"/>
            <a:ext cx="4663440" cy="27774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Training Behaviour and Interpretability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325880"/>
            <a:ext cx="48463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Both models showed sustained loss reduction and validation improvement across the eight-epoch training schedule.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The remaining gap between validation and test results indicated moderate but acceptable generalisation loss.</a:t>
            </a:r>
          </a:p>
          <a:p>
            <a:pPr>
              <a:spcAft>
                <a:spcPts val="0"/>
              </a:spcAft>
              <a:defRPr sz="1900">
                <a:solidFill>
                  <a:srgbClr val="182728"/>
                </a:solidFill>
                <a:latin typeface="Arial"/>
              </a:defRPr>
            </a:pPr>
            <a:r>
              <a:t>The inference trace made tokenisation, top intent scores, entity routing, retrieval candidates, and final response selection visible.</a:t>
            </a:r>
          </a:p>
        </p:txBody>
      </p:sp>
      <p:pic>
        <p:nvPicPr>
          <p:cNvPr id="4" name="Picture 3" descr="figure_4_2_training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89320" y="1097280"/>
            <a:ext cx="5486400" cy="2100474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t>Strengths, Limitations, and Risk Controls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280160"/>
            <a:ext cx="109728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100">
                <a:solidFill>
                  <a:srgbClr val="182728"/>
                </a:solidFill>
                <a:latin typeface="Arial"/>
              </a:defRPr>
            </a:pPr>
            <a:r>
              <a:t>Strengths: bounded medical scope, controlled retrieval, reproducible splits, live monitoring, review-driven retraining.</a:t>
            </a:r>
          </a:p>
          <a:p>
            <a:pPr>
              <a:spcAft>
                <a:spcPts val="0"/>
              </a:spcAft>
              <a:defRPr sz="2100">
                <a:solidFill>
                  <a:srgbClr val="182728"/>
                </a:solidFill>
                <a:latin typeface="Arial"/>
              </a:defRPr>
            </a:pPr>
            <a:r>
              <a:t>Limitations: moderate dataset size, class imbalance, English-only support, rule-based entity refinement, no patient-specific diagnosis or treatment.</a:t>
            </a:r>
          </a:p>
          <a:p>
            <a:pPr>
              <a:spcAft>
                <a:spcPts val="0"/>
              </a:spcAft>
              <a:defRPr sz="2100">
                <a:solidFill>
                  <a:srgbClr val="182728"/>
                </a:solidFill>
                <a:latin typeface="Arial"/>
              </a:defRPr>
            </a:pPr>
            <a:r>
              <a:t>Risk control: unsafe prompts, out-of-scope prompts, and incomplete queries were handled through dedicated intents and guardrail responses.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413606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rPr lang="en-US" dirty="0"/>
              <a:t>TF-IDF Retrieval Process</a:t>
            </a:r>
            <a:endParaRPr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0A1C852-A699-4A3F-86B2-0531697FA3D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1059" y="1885950"/>
            <a:ext cx="3333750" cy="3086100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FF3E46D-E796-4EA7-8821-60B24A08DE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82658" y="2428875"/>
            <a:ext cx="5924550" cy="2000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80192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A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413606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0D544E"/>
                </a:solidFill>
                <a:latin typeface="Arial"/>
              </a:defRPr>
            </a:pPr>
            <a:r>
              <a:rPr lang="en-US" dirty="0"/>
              <a:t>TF-IDF Retrieval Process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6F51BF4A-D72A-4AD9-9198-3D2A8FA0B91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9667" y="2795587"/>
            <a:ext cx="4267200" cy="1266825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4AAD52E-43FB-4C76-988F-A20664E35F0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/>
          <a:stretch/>
        </p:blipFill>
        <p:spPr>
          <a:xfrm>
            <a:off x="5436658" y="1785936"/>
            <a:ext cx="5314950" cy="32861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880574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581999" cy="49244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rPr lang="en-US" dirty="0"/>
              <a:t>Why and Without Retrieval Based Response Generation (</a:t>
            </a:r>
            <a:r>
              <a:rPr lang="en-US" i="1" dirty="0"/>
              <a:t>TF-IDF</a:t>
            </a:r>
            <a:r>
              <a:rPr lang="en-US" dirty="0"/>
              <a:t>) 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>
                <a:solidFill>
                  <a:srgbClr val="ECF5F3"/>
                </a:solidFill>
                <a:latin typeface="Arial"/>
              </a:defRPr>
            </a:pPr>
            <a:r>
              <a:rPr dirty="0"/>
              <a:t>The project delivered a substantial artefact that combined sequential NLP, retrieval-based response generation, and practical </a:t>
            </a:r>
            <a:r>
              <a:rPr dirty="0" err="1"/>
              <a:t>MLOps</a:t>
            </a:r>
            <a:r>
              <a:rPr dirty="0"/>
              <a:t> controls.</a:t>
            </a:r>
          </a:p>
          <a:p>
            <a:pPr>
              <a:spcAft>
                <a:spcPts val="0"/>
              </a:spcAft>
              <a:defRPr sz="2000">
                <a:solidFill>
                  <a:srgbClr val="ECF5F3"/>
                </a:solidFill>
                <a:latin typeface="Arial"/>
              </a:defRPr>
            </a:pPr>
            <a:r>
              <a:rPr dirty="0"/>
              <a:t>Further work should extend real-user data collection, multilingual support, richer report-term coverage, and formal usability evaluation.</a:t>
            </a:r>
          </a:p>
          <a:p>
            <a:pPr>
              <a:spcAft>
                <a:spcPts val="0"/>
              </a:spcAft>
              <a:defRPr sz="2000">
                <a:solidFill>
                  <a:srgbClr val="ECF5F3"/>
                </a:solidFill>
                <a:latin typeface="Arial"/>
              </a:defRPr>
            </a:pPr>
            <a:r>
              <a:rPr dirty="0"/>
              <a:t>The implemented platform is suitable as a bounded laboratory assistant and as a demonstrable final-year machine learning system.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0FB2EE8-3B64-4423-A5C7-38EF845C4E7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4462" y="2288646"/>
            <a:ext cx="4943475" cy="17049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312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600" b="1">
                <a:solidFill>
                  <a:srgbClr val="FFFFFF"/>
                </a:solidFill>
                <a:latin typeface="Arial"/>
              </a:defRPr>
            </a:pPr>
            <a:r>
              <a:t>Conclusion and Further 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557784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0"/>
              </a:spcAft>
              <a:defRPr sz="2000">
                <a:solidFill>
                  <a:srgbClr val="ECF5F3"/>
                </a:solidFill>
                <a:latin typeface="Arial"/>
              </a:defRPr>
            </a:pPr>
            <a:r>
              <a:t>The project delivered a substantial artefact that combined sequential NLP, retrieval-based response generation, and practical MLOps controls.</a:t>
            </a:r>
          </a:p>
          <a:p>
            <a:pPr>
              <a:spcAft>
                <a:spcPts val="0"/>
              </a:spcAft>
              <a:defRPr sz="2000">
                <a:solidFill>
                  <a:srgbClr val="ECF5F3"/>
                </a:solidFill>
                <a:latin typeface="Arial"/>
              </a:defRPr>
            </a:pPr>
            <a:r>
              <a:t>Further work should extend real-user data collection, multilingual support, richer report-term coverage, and formal usability evaluation.</a:t>
            </a:r>
          </a:p>
          <a:p>
            <a:pPr>
              <a:spcAft>
                <a:spcPts val="0"/>
              </a:spcAft>
              <a:defRPr sz="2000">
                <a:solidFill>
                  <a:srgbClr val="ECF5F3"/>
                </a:solidFill>
                <a:latin typeface="Arial"/>
              </a:defRPr>
            </a:pPr>
            <a:r>
              <a:t>The implemented platform is suitable as a bounded laboratory assistant and as a demonstrable final-year machine learning system.</a:t>
            </a:r>
          </a:p>
        </p:txBody>
      </p:sp>
      <p:pic>
        <p:nvPicPr>
          <p:cNvPr id="4" name="Picture 3" descr="figure_4_5_admin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234440"/>
            <a:ext cx="4572000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85213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57</TotalTime>
  <Words>608</Words>
  <Application>Microsoft Office PowerPoint</Application>
  <PresentationFormat>Widescreen</PresentationFormat>
  <Paragraphs>47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subject/>
  <dc:creator/>
  <cp:keywords/>
  <dc:description>generated using python-pptx</dc:description>
  <cp:lastModifiedBy>MSI</cp:lastModifiedBy>
  <cp:revision>5</cp:revision>
  <dcterms:created xsi:type="dcterms:W3CDTF">2013-01-27T09:14:16Z</dcterms:created>
  <dcterms:modified xsi:type="dcterms:W3CDTF">2026-05-03T15:21:11Z</dcterms:modified>
  <cp:category/>
</cp:coreProperties>
</file>