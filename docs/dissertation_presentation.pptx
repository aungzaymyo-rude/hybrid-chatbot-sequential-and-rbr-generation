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1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12F"/>
          </a:solidFill>
          <a:ln>
            <a:solidFill>
              <a:srgbClr val="0E3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Hybrid Chatbot for Medical Haematology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D6E8E4"/>
                </a:solidFill>
                <a:latin typeface="Arial"/>
              </a:defRPr>
            </a:pPr>
            <a:r>
              <a:t>Sequential models for intent classification and retrieval-based response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94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D6E8E4"/>
                </a:solidFill>
                <a:latin typeface="Arial"/>
              </a:defRPr>
            </a:pPr>
            <a:r>
              <a:t>Final Year Dissertation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6E8E4"/>
                </a:solidFill>
                <a:latin typeface="Arial"/>
              </a:defRPr>
            </a:pPr>
            <a:r>
              <a:t>Student: [Insert Name]   Supervisor: [Insert Name]   Year: 2026</a:t>
            </a:r>
          </a:p>
        </p:txBody>
      </p:sp>
      <p:pic>
        <p:nvPicPr>
          <p:cNvPr id="7" name="Picture 6" descr="figure_3_1_hybri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34440"/>
            <a:ext cx="4297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544E"/>
                </a:solidFill>
                <a:latin typeface="Arial"/>
              </a:defRPr>
            </a:pPr>
            <a:r>
              <a:t>Research Context and Project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000">
                <a:solidFill>
                  <a:srgbClr val="182728"/>
                </a:solidFill>
                <a:latin typeface="Arial"/>
              </a:defRPr>
            </a:pPr>
            <a:r>
              <a:t>General-purpose chatbots do not naturally satisfy laboratory requirements for scope control, auditability, and safe fallback behaviour.</a:t>
            </a:r>
          </a:p>
          <a:p>
            <a:pPr>
              <a:spcAft>
                <a:spcPts val="0"/>
              </a:spcAft>
              <a:defRPr sz="2000">
                <a:solidFill>
                  <a:srgbClr val="182728"/>
                </a:solidFill>
                <a:latin typeface="Arial"/>
              </a:defRPr>
            </a:pPr>
            <a:r>
              <a:t>The project therefore targeted a bounded haematology laboratory assistant rather than a diagnostic system.</a:t>
            </a:r>
          </a:p>
          <a:p>
            <a:pPr>
              <a:spcAft>
                <a:spcPts val="0"/>
              </a:spcAft>
              <a:defRPr sz="2000">
                <a:solidFill>
                  <a:srgbClr val="182728"/>
                </a:solidFill>
                <a:latin typeface="Arial"/>
              </a:defRPr>
            </a:pPr>
            <a:r>
              <a:t>The aim was to combine sequential intent classification with retrieval-based response generation and practical MLOps controls.</a:t>
            </a:r>
          </a:p>
        </p:txBody>
      </p:sp>
      <p:pic>
        <p:nvPicPr>
          <p:cNvPr id="4" name="Picture 3" descr="figure_3_3_chat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417320"/>
            <a:ext cx="475488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544E"/>
                </a:solidFill>
                <a:latin typeface="Arial"/>
              </a:defRPr>
            </a:pPr>
            <a:r>
              <a:t>System Architecture and Backend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900">
                <a:solidFill>
                  <a:srgbClr val="182728"/>
                </a:solidFill>
                <a:latin typeface="Arial"/>
              </a:defRPr>
            </a:pPr>
            <a:r>
              <a:t>FastAPI served the chat API, admin endpoints, and model registry.</a:t>
            </a:r>
          </a:p>
          <a:p>
            <a:pPr>
              <a:spcAft>
                <a:spcPts val="0"/>
              </a:spcAft>
              <a:defRPr sz="1900">
                <a:solidFill>
                  <a:srgbClr val="182728"/>
                </a:solidFill>
                <a:latin typeface="Arial"/>
              </a:defRPr>
            </a:pPr>
            <a:r>
              <a:t>The inference path combined text preprocessing, BiLSTM intent scoring, entity detection, TF-IDF retrieval, and safety rules.</a:t>
            </a:r>
          </a:p>
          <a:p>
            <a:pPr>
              <a:spcAft>
                <a:spcPts val="0"/>
              </a:spcAft>
              <a:defRPr sz="1900">
                <a:solidFill>
                  <a:srgbClr val="182728"/>
                </a:solidFill>
                <a:latin typeface="Arial"/>
              </a:defRPr>
            </a:pPr>
            <a:r>
              <a:t>PostgreSQL logging and the admin console supported monitoring and retraining.</a:t>
            </a:r>
          </a:p>
        </p:txBody>
      </p:sp>
      <p:pic>
        <p:nvPicPr>
          <p:cNvPr id="4" name="Picture 3" descr="figure_3_1_hybri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234440"/>
            <a:ext cx="6217920" cy="3479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544E"/>
                </a:solidFill>
                <a:latin typeface="Arial"/>
              </a:defRPr>
            </a:pPr>
            <a:r>
              <a:t>Data Strategy and Two-Model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000">
                <a:solidFill>
                  <a:srgbClr val="182728"/>
                </a:solidFill>
                <a:latin typeface="Arial"/>
              </a:defRPr>
            </a:pPr>
            <a:r>
              <a:t>Master labelled dataset: 3,250 utterances across 27 intents.</a:t>
            </a:r>
          </a:p>
          <a:p>
            <a:pPr>
              <a:spcAft>
                <a:spcPts val="0"/>
              </a:spcAft>
              <a:defRPr sz="2000">
                <a:solidFill>
                  <a:srgbClr val="182728"/>
                </a:solidFill>
                <a:latin typeface="Arial"/>
              </a:defRPr>
            </a:pPr>
            <a:r>
              <a:t>General model dataset: 2,670 utterances across 21 intents.</a:t>
            </a:r>
          </a:p>
          <a:p>
            <a:pPr>
              <a:spcAft>
                <a:spcPts val="0"/>
              </a:spcAft>
              <a:defRPr sz="2000">
                <a:solidFill>
                  <a:srgbClr val="182728"/>
                </a:solidFill>
                <a:latin typeface="Arial"/>
              </a:defRPr>
            </a:pPr>
            <a:r>
              <a:t>Report model dataset: 2,636 utterances across 24 intents.</a:t>
            </a:r>
          </a:p>
          <a:p>
            <a:pPr>
              <a:spcAft>
                <a:spcPts val="0"/>
              </a:spcAft>
              <a:defRPr sz="2000">
                <a:solidFill>
                  <a:srgbClr val="182728"/>
                </a:solidFill>
                <a:latin typeface="Arial"/>
              </a:defRPr>
            </a:pPr>
            <a:r>
              <a:t>The split reduced label competition between workflow questions and CBC report-support questions.</a:t>
            </a:r>
          </a:p>
        </p:txBody>
      </p:sp>
      <p:pic>
        <p:nvPicPr>
          <p:cNvPr id="4" name="Picture 3" descr="figure_4_3_dataset_and_spl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17320"/>
            <a:ext cx="4663440" cy="17874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544E"/>
                </a:solidFill>
                <a:latin typeface="Arial"/>
              </a:defRPr>
            </a:pPr>
            <a:r>
              <a:t>MLOps Lifecycle and Operational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900">
                <a:solidFill>
                  <a:srgbClr val="182728"/>
                </a:solidFill>
                <a:latin typeface="Arial"/>
              </a:defRPr>
            </a:pPr>
            <a:r>
              <a:t>The implemented lifecycle covered labelled data ingestion, derived datasets, fixed splits, training, evaluation, deployment, monitoring, and retraining.</a:t>
            </a:r>
          </a:p>
          <a:p>
            <a:pPr>
              <a:spcAft>
                <a:spcPts val="0"/>
              </a:spcAft>
              <a:defRPr sz="1900">
                <a:solidFill>
                  <a:srgbClr val="182728"/>
                </a:solidFill>
                <a:latin typeface="Arial"/>
              </a:defRPr>
            </a:pPr>
            <a:r>
              <a:t>The admin console exposed model metrics, live logs, version-relevant artefacts, review workflow, and inference traces.</a:t>
            </a:r>
          </a:p>
          <a:p>
            <a:pPr>
              <a:spcAft>
                <a:spcPts val="0"/>
              </a:spcAft>
              <a:defRPr sz="1900">
                <a:solidFill>
                  <a:srgbClr val="182728"/>
                </a:solidFill>
                <a:latin typeface="Arial"/>
              </a:defRPr>
            </a:pPr>
            <a:r>
              <a:t>Reviewed production phrases could be exported and merged back into the labelled dataset.</a:t>
            </a:r>
          </a:p>
        </p:txBody>
      </p:sp>
      <p:pic>
        <p:nvPicPr>
          <p:cNvPr id="4" name="Picture 3" descr="figure_3_2_mlops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188720"/>
            <a:ext cx="5486400" cy="27225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544E"/>
                </a:solidFill>
                <a:latin typeface="Arial"/>
              </a:defRPr>
            </a:pPr>
            <a:r>
              <a:t>Evaluation Design and Testing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900">
                <a:solidFill>
                  <a:srgbClr val="182728"/>
                </a:solidFill>
                <a:latin typeface="Arial"/>
              </a:defRPr>
            </a:pPr>
            <a:r>
              <a:t>A fixed 70/15/15 train-validation-test policy was adopted to separate checkpoint selection from final reporting.</a:t>
            </a:r>
          </a:p>
          <a:p>
            <a:pPr>
              <a:spcAft>
                <a:spcPts val="0"/>
              </a:spcAft>
              <a:defRPr sz="1900">
                <a:solidFill>
                  <a:srgbClr val="182728"/>
                </a:solidFill>
                <a:latin typeface="Arial"/>
              </a:defRPr>
            </a:pPr>
            <a:r>
              <a:t>Automated tests covered API behaviour, preprocessing, entity detection, routing, model advisory, predictor rules, and split generation.</a:t>
            </a:r>
          </a:p>
          <a:p>
            <a:pPr>
              <a:spcAft>
                <a:spcPts val="0"/>
              </a:spcAft>
              <a:defRPr sz="1900">
                <a:solidFill>
                  <a:srgbClr val="182728"/>
                </a:solidFill>
                <a:latin typeface="Arial"/>
              </a:defRPr>
            </a:pPr>
            <a:r>
              <a:t>The final automated suite passed with 26 tests.</a:t>
            </a:r>
          </a:p>
        </p:txBody>
      </p:sp>
      <p:pic>
        <p:nvPicPr>
          <p:cNvPr id="4" name="Picture 3" descr="figure_4_4_testing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754880" cy="28961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544E"/>
                </a:solidFill>
                <a:latin typeface="Arial"/>
              </a:defRPr>
            </a:pPr>
            <a: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000">
                <a:solidFill>
                  <a:srgbClr val="182728"/>
                </a:solidFill>
                <a:latin typeface="Arial"/>
              </a:defRPr>
            </a:pPr>
            <a:r>
              <a:t>General model: accuracy 0.8928, macro F1 0.8649.</a:t>
            </a:r>
          </a:p>
          <a:p>
            <a:pPr>
              <a:spcAft>
                <a:spcPts val="0"/>
              </a:spcAft>
              <a:defRPr sz="2000">
                <a:solidFill>
                  <a:srgbClr val="182728"/>
                </a:solidFill>
                <a:latin typeface="Arial"/>
              </a:defRPr>
            </a:pPr>
            <a:r>
              <a:t>Report model: accuracy 0.9040, macro F1 0.8604.</a:t>
            </a:r>
          </a:p>
          <a:p>
            <a:pPr>
              <a:spcAft>
                <a:spcPts val="0"/>
              </a:spcAft>
              <a:defRPr sz="2000">
                <a:solidFill>
                  <a:srgbClr val="182728"/>
                </a:solidFill>
                <a:latin typeface="Arial"/>
              </a:defRPr>
            </a:pPr>
            <a:r>
              <a:t>The report profile achieved slightly higher accuracy, while both models maintained near-0.90 test performance within a bounded medical scope.</a:t>
            </a:r>
          </a:p>
        </p:txBody>
      </p:sp>
      <p:pic>
        <p:nvPicPr>
          <p:cNvPr id="4" name="Picture 3" descr="figure_4_1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54480"/>
            <a:ext cx="4663440" cy="2777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544E"/>
                </a:solidFill>
                <a:latin typeface="Arial"/>
              </a:defRPr>
            </a:pPr>
            <a:r>
              <a:t>Training Behaviour and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900">
                <a:solidFill>
                  <a:srgbClr val="182728"/>
                </a:solidFill>
                <a:latin typeface="Arial"/>
              </a:defRPr>
            </a:pPr>
            <a:r>
              <a:t>Both models showed sustained loss reduction and validation improvement across the eight-epoch training schedule.</a:t>
            </a:r>
          </a:p>
          <a:p>
            <a:pPr>
              <a:spcAft>
                <a:spcPts val="0"/>
              </a:spcAft>
              <a:defRPr sz="1900">
                <a:solidFill>
                  <a:srgbClr val="182728"/>
                </a:solidFill>
                <a:latin typeface="Arial"/>
              </a:defRPr>
            </a:pPr>
            <a:r>
              <a:t>The remaining gap between validation and test results indicated moderate but acceptable generalisation loss.</a:t>
            </a:r>
          </a:p>
          <a:p>
            <a:pPr>
              <a:spcAft>
                <a:spcPts val="0"/>
              </a:spcAft>
              <a:defRPr sz="1900">
                <a:solidFill>
                  <a:srgbClr val="182728"/>
                </a:solidFill>
                <a:latin typeface="Arial"/>
              </a:defRPr>
            </a:pPr>
            <a:r>
              <a:t>The inference trace made tokenisation, top intent scores, entity routing, retrieval candidates, and final response selection visible.</a:t>
            </a:r>
          </a:p>
        </p:txBody>
      </p:sp>
      <p:pic>
        <p:nvPicPr>
          <p:cNvPr id="4" name="Picture 3" descr="figure_4_2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97280"/>
            <a:ext cx="5486400" cy="2100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544E"/>
                </a:solidFill>
                <a:latin typeface="Arial"/>
              </a:defRPr>
            </a:pPr>
            <a:r>
              <a:t>Strengths, Limitations, and Risk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100">
                <a:solidFill>
                  <a:srgbClr val="182728"/>
                </a:solidFill>
                <a:latin typeface="Arial"/>
              </a:defRPr>
            </a:pPr>
            <a:r>
              <a:t>Strengths: bounded medical scope, controlled retrieval, reproducible splits, live monitoring, review-driven retraining.</a:t>
            </a:r>
          </a:p>
          <a:p>
            <a:pPr>
              <a:spcAft>
                <a:spcPts val="0"/>
              </a:spcAft>
              <a:defRPr sz="2100">
                <a:solidFill>
                  <a:srgbClr val="182728"/>
                </a:solidFill>
                <a:latin typeface="Arial"/>
              </a:defRPr>
            </a:pPr>
            <a:r>
              <a:t>Limitations: moderate dataset size, class imbalance, English-only support, rule-based entity refinement, no patient-specific diagnosis or treatment.</a:t>
            </a:r>
          </a:p>
          <a:p>
            <a:pPr>
              <a:spcAft>
                <a:spcPts val="0"/>
              </a:spcAft>
              <a:defRPr sz="2100">
                <a:solidFill>
                  <a:srgbClr val="182728"/>
                </a:solidFill>
                <a:latin typeface="Arial"/>
              </a:defRPr>
            </a:pPr>
            <a:r>
              <a:t>Risk control: unsafe prompts, out-of-scope prompts, and incomplete queries were handled through dedicated intents and guardrail responses.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1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Conclusion and Further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000">
                <a:solidFill>
                  <a:srgbClr val="ECF5F3"/>
                </a:solidFill>
                <a:latin typeface="Arial"/>
              </a:defRPr>
            </a:pPr>
            <a:r>
              <a:t>The project delivered a substantial artefact that combined sequential NLP, retrieval-based response generation, and practical MLOps controls.</a:t>
            </a:r>
          </a:p>
          <a:p>
            <a:pPr>
              <a:spcAft>
                <a:spcPts val="0"/>
              </a:spcAft>
              <a:defRPr sz="2000">
                <a:solidFill>
                  <a:srgbClr val="ECF5F3"/>
                </a:solidFill>
                <a:latin typeface="Arial"/>
              </a:defRPr>
            </a:pPr>
            <a:r>
              <a:t>Further work should extend real-user data collection, multilingual support, richer report-term coverage, and formal usability evaluation.</a:t>
            </a:r>
          </a:p>
          <a:p>
            <a:pPr>
              <a:spcAft>
                <a:spcPts val="0"/>
              </a:spcAft>
              <a:defRPr sz="2000">
                <a:solidFill>
                  <a:srgbClr val="ECF5F3"/>
                </a:solidFill>
                <a:latin typeface="Arial"/>
              </a:defRPr>
            </a:pPr>
            <a:r>
              <a:t>The implemented platform is suitable as a bounded laboratory assistant and as a demonstrable final-year machine learning system.</a:t>
            </a:r>
          </a:p>
        </p:txBody>
      </p:sp>
      <p:pic>
        <p:nvPicPr>
          <p:cNvPr id="4" name="Picture 3" descr="figure_4_5_admi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4572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